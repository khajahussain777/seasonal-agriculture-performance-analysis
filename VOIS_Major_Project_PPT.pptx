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48" r:id="rId7"/>
    <p:sldId id="329" r:id="rId8"/>
    <p:sldId id="302" r:id="rId9"/>
    <p:sldId id="346" r:id="rId10"/>
    <p:sldId id="339" r:id="rId11"/>
    <p:sldId id="340" r:id="rId12"/>
    <p:sldId id="345" r:id="rId13"/>
    <p:sldId id="344"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9" d="100"/>
          <a:sy n="89" d="100"/>
        </p:scale>
        <p:origin x="37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khajahussain777/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2" y="2844750"/>
            <a:ext cx="9595698" cy="743448"/>
          </a:xfrm>
        </p:spPr>
        <p:txBody>
          <a:bodyPr>
            <a:noAutofit/>
          </a:bodyPr>
          <a:lstStyle/>
          <a:p>
            <a:r>
              <a:rPr lang="en-IN" sz="3600" b="1" dirty="0">
                <a:solidFill>
                  <a:schemeClr val="accent1">
                    <a:lumMod val="75000"/>
                  </a:schemeClr>
                </a:solidFill>
              </a:rPr>
              <a:t>Seasonal </a:t>
            </a:r>
            <a:r>
              <a:rPr lang="en-IN" sz="3600" b="1" dirty="0">
                <a:solidFill>
                  <a:schemeClr val="accent4">
                    <a:lumMod val="60000"/>
                    <a:lumOff val="40000"/>
                  </a:schemeClr>
                </a:solidFill>
              </a:rPr>
              <a:t>Agriculture</a:t>
            </a:r>
            <a:r>
              <a:rPr lang="en-IN" sz="3600" b="1" dirty="0"/>
              <a:t> </a:t>
            </a:r>
            <a:r>
              <a:rPr lang="en-IN" sz="3600" b="1" dirty="0">
                <a:solidFill>
                  <a:schemeClr val="accent4">
                    <a:lumMod val="75000"/>
                  </a:schemeClr>
                </a:solidFill>
              </a:rPr>
              <a:t>Performance</a:t>
            </a:r>
            <a:r>
              <a:rPr lang="en-IN" sz="3600" b="1" dirty="0"/>
              <a:t> </a:t>
            </a:r>
            <a:r>
              <a:rPr lang="en-IN" sz="3600" b="1" dirty="0">
                <a:solidFill>
                  <a:schemeClr val="accent1">
                    <a:lumMod val="75000"/>
                  </a:schemeClr>
                </a:solidFill>
              </a:rPr>
              <a:t>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5719439" cy="369332"/>
          </a:xfrm>
          <a:prstGeom prst="rect">
            <a:avLst/>
          </a:prstGeom>
          <a:noFill/>
        </p:spPr>
        <p:txBody>
          <a:bodyPr wrap="square" rtlCol="0">
            <a:spAutoFit/>
          </a:bodyPr>
          <a:lstStyle/>
          <a:p>
            <a:r>
              <a:rPr lang="en-US" b="1" dirty="0"/>
              <a:t>AICTE STU ID : </a:t>
            </a:r>
            <a:r>
              <a:rPr lang="en-IN" b="1" i="0" dirty="0">
                <a:solidFill>
                  <a:srgbClr val="FF0000"/>
                </a:solidFill>
                <a:effectLst/>
                <a:latin typeface="__Plus_Jakarta_Sans_a11773"/>
              </a:rPr>
              <a:t>STU658b8975b83d61703643509</a:t>
            </a:r>
            <a:endParaRPr lang="en-US" b="1" dirty="0">
              <a:solidFill>
                <a:srgbClr val="FF0000"/>
              </a:solidFill>
            </a:endParaRPr>
          </a:p>
        </p:txBody>
      </p:sp>
      <p:sp>
        <p:nvSpPr>
          <p:cNvPr id="5" name="TextBox 4">
            <a:extLst>
              <a:ext uri="{FF2B5EF4-FFF2-40B4-BE49-F238E27FC236}">
                <a16:creationId xmlns:a16="http://schemas.microsoft.com/office/drawing/2014/main" id="{7233A919-1BDD-C569-EEAC-293763F64754}"/>
              </a:ext>
            </a:extLst>
          </p:cNvPr>
          <p:cNvSpPr txBox="1"/>
          <p:nvPr/>
        </p:nvSpPr>
        <p:spPr>
          <a:xfrm>
            <a:off x="675957" y="3655498"/>
            <a:ext cx="8545681" cy="830997"/>
          </a:xfrm>
          <a:prstGeom prst="rect">
            <a:avLst/>
          </a:prstGeom>
          <a:noFill/>
        </p:spPr>
        <p:txBody>
          <a:bodyPr wrap="square" rtlCol="0">
            <a:spAutoFit/>
          </a:bodyPr>
          <a:lstStyle/>
          <a:p>
            <a:r>
              <a:rPr lang="en-IN" sz="2400" b="1" dirty="0">
                <a:solidFill>
                  <a:srgbClr val="020617"/>
                </a:solidFill>
                <a:latin typeface="Aptos" panose="020B0004020202020204" pitchFamily="34" charset="0"/>
              </a:rPr>
              <a:t>M MOHAMMAD KHAJA HUSSAIN</a:t>
            </a:r>
            <a:endParaRPr lang="en-IN" sz="2400" b="1" i="0" dirty="0">
              <a:solidFill>
                <a:srgbClr val="020617"/>
              </a:solidFill>
              <a:effectLst/>
              <a:latin typeface="Aptos" panose="020B0004020202020204" pitchFamily="34" charset="0"/>
            </a:endParaRPr>
          </a:p>
          <a:p>
            <a:r>
              <a:rPr lang="en-IN" sz="2400" b="1" i="0" dirty="0">
                <a:solidFill>
                  <a:srgbClr val="020617"/>
                </a:solidFill>
                <a:effectLst/>
                <a:latin typeface="Aptos" panose="020B0004020202020204" pitchFamily="34" charset="0"/>
                <a:cs typeface="Aharoni" panose="02010803020104030203" pitchFamily="2" charset="-79"/>
              </a:rPr>
              <a:t>KONERU LAKSHMAIAH EDUCATION FOUNDATION</a:t>
            </a:r>
            <a:endParaRPr lang="en-IN" sz="2400" dirty="0">
              <a:latin typeface="Aptos" panose="020B0004020202020204" pitchFamily="34" charset="0"/>
              <a:cs typeface="Aharoni" panose="02010803020104030203" pitchFamily="2" charset="-79"/>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304608" y="1403604"/>
            <a:ext cx="7226252" cy="4050791"/>
          </a:xfrm>
        </p:spPr>
        <p:txBody>
          <a:bodyPr vert="horz" lIns="91440" tIns="45720" rIns="91440" bIns="45720" rtlCol="0" anchor="t">
            <a:noAutofit/>
          </a:bodyPr>
          <a:lstStyle/>
          <a:p>
            <a:pPr>
              <a:lnSpc>
                <a:spcPct val="100000"/>
              </a:lnSpc>
            </a:pPr>
            <a:r>
              <a:rPr lang="en-US" sz="2800" dirty="0">
                <a:solidFill>
                  <a:schemeClr val="tx1"/>
                </a:solidFill>
                <a:latin typeface="Aldhabi" panose="01000000000000000000" pitchFamily="2" charset="-78"/>
                <a:cs typeface="Aldhabi" panose="01000000000000000000" pitchFamily="2" charset="-78"/>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solidFill>
                <a:schemeClr val="tx1"/>
              </a:solidFill>
              <a:latin typeface="Aldhabi" panose="01000000000000000000" pitchFamily="2" charset="-78"/>
              <a:cs typeface="Aldhabi" panose="01000000000000000000" pitchFamily="2" charset="-78"/>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b="0" dirty="0"/>
              <a:t>PROBLEM  STATEMENT</a:t>
            </a:r>
            <a:endParaRPr lang="en-IN" b="0"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F54926-20EB-3490-1BCB-C35F40A795C8}"/>
              </a:ext>
            </a:extLst>
          </p:cNvPr>
          <p:cNvSpPr>
            <a:spLocks noGrp="1"/>
          </p:cNvSpPr>
          <p:nvPr>
            <p:ph type="title"/>
          </p:nvPr>
        </p:nvSpPr>
        <p:spPr>
          <a:xfrm>
            <a:off x="168693" y="158232"/>
            <a:ext cx="5714521" cy="830997"/>
          </a:xfrm>
        </p:spPr>
        <p:txBody>
          <a:bodyPr>
            <a:noAutofit/>
          </a:bodyPr>
          <a:lstStyle/>
          <a:p>
            <a:r>
              <a:rPr lang="en-GB" sz="3600" b="0" dirty="0"/>
              <a:t>Project Description</a:t>
            </a:r>
            <a:br>
              <a:rPr lang="en-GB" sz="3600" b="0" dirty="0"/>
            </a:br>
            <a:br>
              <a:rPr lang="en-GB" sz="3600" b="0" dirty="0"/>
            </a:br>
            <a:endParaRPr lang="en-IN" sz="3600" b="0" dirty="0"/>
          </a:p>
        </p:txBody>
      </p:sp>
      <p:sp>
        <p:nvSpPr>
          <p:cNvPr id="6" name="Rectangle 2">
            <a:extLst>
              <a:ext uri="{FF2B5EF4-FFF2-40B4-BE49-F238E27FC236}">
                <a16:creationId xmlns:a16="http://schemas.microsoft.com/office/drawing/2014/main" id="{6CE1CD96-B032-5528-BE40-31A16774F9CD}"/>
              </a:ext>
            </a:extLst>
          </p:cNvPr>
          <p:cNvSpPr>
            <a:spLocks noGrp="1" noChangeArrowheads="1"/>
          </p:cNvSpPr>
          <p:nvPr>
            <p:ph type="body" sz="quarter" idx="12"/>
          </p:nvPr>
        </p:nvSpPr>
        <p:spPr bwMode="auto">
          <a:xfrm>
            <a:off x="168693" y="655066"/>
            <a:ext cx="8637956" cy="4611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32000" marR="0" lvl="0" indent="-432000" algn="l" defTabSz="914400" rtl="0" eaLnBrk="0" fontAlgn="base" latinLnBrk="0" hangingPunct="0">
              <a:lnSpc>
                <a:spcPct val="15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L="432000" marR="0" lvl="0" indent="-43200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I worked with a dataset of 4000 farms spread across 8 states in India, covering the three main growing seasons Kharif, Rabi and Zaid. </a:t>
            </a:r>
          </a:p>
          <a:p>
            <a:pPr marL="432000" marR="0" lvl="0" indent="-43200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First step was cleaning the data some missing rainfall and yield values, checked for duplicates), then I compared things like yield, profit, rainfall, water usage, irrigation type and crop performance between the seasons. </a:t>
            </a:r>
          </a:p>
          <a:p>
            <a:pPr marL="432000" marR="0" lvl="0" indent="-43200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The main thing I found was that Kharif season does the best overall  better yield, better profit, and farms use water more efficiently. Zaid was the weakest season, and a lot of farms in Zaid actually ended up losing money. </a:t>
            </a:r>
          </a:p>
          <a:p>
            <a:pPr marL="432000" marR="0" lvl="0" indent="-43200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Based on this, I put together a few suggestions on crop and irrigation choices that could help improve outcomes, especially in Zaid. </a:t>
            </a:r>
          </a:p>
        </p:txBody>
      </p:sp>
    </p:spTree>
    <p:extLst>
      <p:ext uri="{BB962C8B-B14F-4D97-AF65-F5344CB8AC3E}">
        <p14:creationId xmlns:p14="http://schemas.microsoft.com/office/powerpoint/2010/main" val="2197229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b="0" dirty="0"/>
              <a:t>WHO ARE THE END USERS?</a:t>
            </a:r>
            <a:endParaRPr lang="en-IN" sz="2000" b="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74879981-CF71-6C71-51DA-D77C8B6780AA}"/>
              </a:ext>
            </a:extLst>
          </p:cNvPr>
          <p:cNvSpPr>
            <a:spLocks noGrp="1" noChangeArrowheads="1"/>
          </p:cNvSpPr>
          <p:nvPr>
            <p:ph type="body" sz="quarter" idx="12"/>
          </p:nvPr>
        </p:nvSpPr>
        <p:spPr bwMode="auto">
          <a:xfrm>
            <a:off x="356740" y="1284649"/>
            <a:ext cx="9483109" cy="3347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buClrTx/>
              <a:buSzTx/>
            </a:pPr>
            <a:endParaRPr kumimoji="0" lang="en-US" altLang="en-US" sz="24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R="0" lvl="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Farmers deciding what crop to grow in which season </a:t>
            </a:r>
          </a:p>
          <a:p>
            <a:pPr marR="0" lvl="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Government agriculture departments planning season-wise policies </a:t>
            </a:r>
          </a:p>
          <a:p>
            <a:pPr marR="0" lvl="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Companies selling irrigation equipment or farming inputs </a:t>
            </a:r>
          </a:p>
          <a:p>
            <a:pPr marR="0" lvl="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Banks/insurance companies that need to assess risk by season </a:t>
            </a:r>
          </a:p>
          <a:p>
            <a:pPr marR="0" lvl="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Other students or researchers who want to study farming trends </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b="0" dirty="0"/>
              <a:t>Technology Used</a:t>
            </a:r>
          </a:p>
        </p:txBody>
      </p:sp>
      <p:sp>
        <p:nvSpPr>
          <p:cNvPr id="3" name="Rectangle 1">
            <a:extLst>
              <a:ext uri="{FF2B5EF4-FFF2-40B4-BE49-F238E27FC236}">
                <a16:creationId xmlns:a16="http://schemas.microsoft.com/office/drawing/2014/main" id="{00CBCD05-BDBC-2494-B2C8-1BE0460286CE}"/>
              </a:ext>
            </a:extLst>
          </p:cNvPr>
          <p:cNvSpPr>
            <a:spLocks noGrp="1" noChangeArrowheads="1"/>
          </p:cNvSpPr>
          <p:nvPr>
            <p:ph type="body" sz="quarter" idx="12"/>
          </p:nvPr>
        </p:nvSpPr>
        <p:spPr bwMode="auto">
          <a:xfrm>
            <a:off x="757066" y="1511836"/>
            <a:ext cx="864438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Python </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Pandas, NumPy – for cleaning and working with the data </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Matplotlib, Seaborn – for the charts </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Jupyter Notebook – where I did all the analysis </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Dataset: CSV file,4000 rows, 8 states, 3 seasons </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sz="3200" dirty="0"/>
              <a:t>RESULTS </a:t>
            </a:r>
            <a:endParaRPr lang="en-IN" sz="3200"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320982" y="978830"/>
            <a:ext cx="5044648" cy="666078"/>
          </a:xfrm>
        </p:spPr>
        <p:txBody>
          <a:bodyPr>
            <a:normAutofit/>
          </a:bodyPr>
          <a:lstStyle/>
          <a:p>
            <a:pPr marL="0" indent="0">
              <a:buNone/>
            </a:pPr>
            <a:r>
              <a:rPr lang="en-US" dirty="0">
                <a:solidFill>
                  <a:schemeClr val="tx1"/>
                </a:solidFill>
                <a:latin typeface="Cambria Math" panose="02040503050406030204" pitchFamily="18" charset="0"/>
                <a:ea typeface="Cambria Math" panose="02040503050406030204" pitchFamily="18" charset="0"/>
              </a:rPr>
              <a:t>Kharif has the highest yield, Zaid the lowest</a:t>
            </a:r>
            <a:endParaRPr lang="en-IN" dirty="0">
              <a:solidFill>
                <a:schemeClr val="tx1"/>
              </a:solidFill>
              <a:latin typeface="Cambria Math" panose="02040503050406030204" pitchFamily="18" charset="0"/>
              <a:ea typeface="Cambria Math" panose="02040503050406030204" pitchFamily="18" charset="0"/>
            </a:endParaRPr>
          </a:p>
        </p:txBody>
      </p:sp>
      <p:pic>
        <p:nvPicPr>
          <p:cNvPr id="3" name="Picture 2">
            <a:extLst>
              <a:ext uri="{FF2B5EF4-FFF2-40B4-BE49-F238E27FC236}">
                <a16:creationId xmlns:a16="http://schemas.microsoft.com/office/drawing/2014/main" id="{730CB507-CA9B-9AD5-9B8E-21D7E167FCA3}"/>
              </a:ext>
            </a:extLst>
          </p:cNvPr>
          <p:cNvPicPr>
            <a:picLocks noChangeAspect="1"/>
          </p:cNvPicPr>
          <p:nvPr/>
        </p:nvPicPr>
        <p:blipFill>
          <a:blip r:embed="rId3"/>
          <a:stretch>
            <a:fillRect/>
          </a:stretch>
        </p:blipFill>
        <p:spPr>
          <a:xfrm>
            <a:off x="0" y="2015234"/>
            <a:ext cx="5524500" cy="4333875"/>
          </a:xfrm>
          <a:prstGeom prst="rect">
            <a:avLst/>
          </a:prstGeom>
        </p:spPr>
      </p:pic>
      <p:pic>
        <p:nvPicPr>
          <p:cNvPr id="6" name="Picture 5">
            <a:extLst>
              <a:ext uri="{FF2B5EF4-FFF2-40B4-BE49-F238E27FC236}">
                <a16:creationId xmlns:a16="http://schemas.microsoft.com/office/drawing/2014/main" id="{7AD291DF-61A5-E165-932E-FE862DAF1273}"/>
              </a:ext>
            </a:extLst>
          </p:cNvPr>
          <p:cNvPicPr>
            <a:picLocks noChangeAspect="1"/>
          </p:cNvPicPr>
          <p:nvPr/>
        </p:nvPicPr>
        <p:blipFill>
          <a:blip r:embed="rId4"/>
          <a:stretch>
            <a:fillRect/>
          </a:stretch>
        </p:blipFill>
        <p:spPr>
          <a:xfrm>
            <a:off x="5674907" y="1802547"/>
            <a:ext cx="6551629" cy="4333875"/>
          </a:xfrm>
          <a:prstGeom prst="rect">
            <a:avLst/>
          </a:prstGeom>
        </p:spPr>
      </p:pic>
      <p:sp>
        <p:nvSpPr>
          <p:cNvPr id="9" name="TextBox 8">
            <a:extLst>
              <a:ext uri="{FF2B5EF4-FFF2-40B4-BE49-F238E27FC236}">
                <a16:creationId xmlns:a16="http://schemas.microsoft.com/office/drawing/2014/main" id="{B5B39B84-94CD-0997-5754-361E80ED5EF3}"/>
              </a:ext>
            </a:extLst>
          </p:cNvPr>
          <p:cNvSpPr txBox="1"/>
          <p:nvPr/>
        </p:nvSpPr>
        <p:spPr>
          <a:xfrm>
            <a:off x="5516038" y="721578"/>
            <a:ext cx="5422256" cy="923330"/>
          </a:xfrm>
          <a:prstGeom prst="rect">
            <a:avLst/>
          </a:prstGeom>
          <a:noFill/>
        </p:spPr>
        <p:txBody>
          <a:bodyPr wrap="square" rtlCol="0">
            <a:spAutoFit/>
          </a:bodyPr>
          <a:lstStyle/>
          <a:p>
            <a:r>
              <a:rPr lang="en-US" dirty="0">
                <a:latin typeface="Cambria Math" panose="02040503050406030204" pitchFamily="18" charset="0"/>
                <a:ea typeface="Cambria Math" panose="02040503050406030204" pitchFamily="18" charset="0"/>
              </a:rPr>
              <a:t>Rice has the most records 690, Sugarcane the fewest 300 dataset skews heavily toward Rice/Wheat/Maize.</a:t>
            </a:r>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338234" y="14575"/>
            <a:ext cx="6010808" cy="431320"/>
          </a:xfrm>
        </p:spPr>
        <p:txBody>
          <a:bodyPr>
            <a:noAutofit/>
          </a:bodyPr>
          <a:lstStyle/>
          <a:p>
            <a:r>
              <a:rPr lang="en-IN" sz="1800" dirty="0"/>
              <a:t>Environmental Conditions across Seasons</a:t>
            </a:r>
            <a:br>
              <a:rPr lang="en-IN" sz="1800" b="0" dirty="0"/>
            </a:br>
            <a:r>
              <a:rPr lang="en-GB" sz="900" dirty="0"/>
              <a:t> </a:t>
            </a:r>
            <a:endParaRPr lang="en-IN" sz="900" dirty="0"/>
          </a:p>
        </p:txBody>
      </p:sp>
      <p:pic>
        <p:nvPicPr>
          <p:cNvPr id="10" name="Picture 9">
            <a:extLst>
              <a:ext uri="{FF2B5EF4-FFF2-40B4-BE49-F238E27FC236}">
                <a16:creationId xmlns:a16="http://schemas.microsoft.com/office/drawing/2014/main" id="{BD29D572-9246-31B4-D762-631253BF9791}"/>
              </a:ext>
            </a:extLst>
          </p:cNvPr>
          <p:cNvPicPr>
            <a:picLocks noChangeAspect="1"/>
          </p:cNvPicPr>
          <p:nvPr/>
        </p:nvPicPr>
        <p:blipFill>
          <a:blip r:embed="rId3"/>
          <a:stretch>
            <a:fillRect/>
          </a:stretch>
        </p:blipFill>
        <p:spPr>
          <a:xfrm>
            <a:off x="261314" y="445895"/>
            <a:ext cx="5115535" cy="3135169"/>
          </a:xfrm>
          <a:prstGeom prst="rect">
            <a:avLst/>
          </a:prstGeom>
        </p:spPr>
      </p:pic>
      <p:pic>
        <p:nvPicPr>
          <p:cNvPr id="12" name="Picture 11">
            <a:extLst>
              <a:ext uri="{FF2B5EF4-FFF2-40B4-BE49-F238E27FC236}">
                <a16:creationId xmlns:a16="http://schemas.microsoft.com/office/drawing/2014/main" id="{E3E687AA-2F85-99C0-5FCB-C776EB08EB48}"/>
              </a:ext>
            </a:extLst>
          </p:cNvPr>
          <p:cNvPicPr>
            <a:picLocks noChangeAspect="1"/>
          </p:cNvPicPr>
          <p:nvPr/>
        </p:nvPicPr>
        <p:blipFill>
          <a:blip r:embed="rId4"/>
          <a:stretch>
            <a:fillRect/>
          </a:stretch>
        </p:blipFill>
        <p:spPr>
          <a:xfrm>
            <a:off x="5434910" y="445895"/>
            <a:ext cx="5689828" cy="3135169"/>
          </a:xfrm>
          <a:prstGeom prst="rect">
            <a:avLst/>
          </a:prstGeom>
        </p:spPr>
      </p:pic>
      <p:pic>
        <p:nvPicPr>
          <p:cNvPr id="14" name="Picture 13">
            <a:extLst>
              <a:ext uri="{FF2B5EF4-FFF2-40B4-BE49-F238E27FC236}">
                <a16:creationId xmlns:a16="http://schemas.microsoft.com/office/drawing/2014/main" id="{949DE1CE-91F0-1A69-2013-8DD274499878}"/>
              </a:ext>
            </a:extLst>
          </p:cNvPr>
          <p:cNvPicPr>
            <a:picLocks noChangeAspect="1"/>
          </p:cNvPicPr>
          <p:nvPr/>
        </p:nvPicPr>
        <p:blipFill>
          <a:blip r:embed="rId5"/>
          <a:stretch>
            <a:fillRect/>
          </a:stretch>
        </p:blipFill>
        <p:spPr>
          <a:xfrm>
            <a:off x="261314" y="3503407"/>
            <a:ext cx="5115535" cy="3239210"/>
          </a:xfrm>
          <a:prstGeom prst="rect">
            <a:avLst/>
          </a:prstGeom>
        </p:spPr>
      </p:pic>
      <p:pic>
        <p:nvPicPr>
          <p:cNvPr id="16" name="Picture 15">
            <a:extLst>
              <a:ext uri="{FF2B5EF4-FFF2-40B4-BE49-F238E27FC236}">
                <a16:creationId xmlns:a16="http://schemas.microsoft.com/office/drawing/2014/main" id="{191DC358-A1D8-FC87-60A3-12023F9D42DD}"/>
              </a:ext>
            </a:extLst>
          </p:cNvPr>
          <p:cNvPicPr>
            <a:picLocks noChangeAspect="1"/>
          </p:cNvPicPr>
          <p:nvPr/>
        </p:nvPicPr>
        <p:blipFill>
          <a:blip r:embed="rId6"/>
          <a:stretch>
            <a:fillRect/>
          </a:stretch>
        </p:blipFill>
        <p:spPr>
          <a:xfrm>
            <a:off x="5655859" y="3555427"/>
            <a:ext cx="5468879" cy="313517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172529" y="129397"/>
            <a:ext cx="9730596" cy="862642"/>
          </a:xfrm>
        </p:spPr>
        <p:txBody>
          <a:bodyPr>
            <a:noAutofit/>
          </a:bodyPr>
          <a:lstStyle/>
          <a:p>
            <a:pPr marL="0" indent="0">
              <a:buNone/>
            </a:pPr>
            <a:r>
              <a:rPr lang="en-US" sz="1600" dirty="0">
                <a:solidFill>
                  <a:schemeClr val="tx1"/>
                </a:solidFill>
              </a:rPr>
              <a:t>Sugarcane and </a:t>
            </a:r>
            <a:r>
              <a:rPr lang="en-US" sz="1600" dirty="0" err="1">
                <a:solidFill>
                  <a:schemeClr val="tx1"/>
                </a:solidFill>
              </a:rPr>
              <a:t>Chilli</a:t>
            </a:r>
            <a:r>
              <a:rPr lang="en-US" sz="1600" dirty="0">
                <a:solidFill>
                  <a:schemeClr val="tx1"/>
                </a:solidFill>
              </a:rPr>
              <a:t> are consistently the most profitable crops in every season. Rice, Maize, Wheat and Pulses tend to run at a loss in the Zaid season specifically, showing that season matters as much as crop choice.</a:t>
            </a:r>
          </a:p>
          <a:p>
            <a:pPr marL="0" indent="0">
              <a:buNone/>
            </a:pPr>
            <a:endParaRPr lang="en-IN" sz="1600" dirty="0">
              <a:solidFill>
                <a:schemeClr val="tx1"/>
              </a:solidFill>
            </a:endParaRPr>
          </a:p>
        </p:txBody>
      </p:sp>
      <p:pic>
        <p:nvPicPr>
          <p:cNvPr id="6" name="Picture 5">
            <a:extLst>
              <a:ext uri="{FF2B5EF4-FFF2-40B4-BE49-F238E27FC236}">
                <a16:creationId xmlns:a16="http://schemas.microsoft.com/office/drawing/2014/main" id="{56E6D0D6-ABF9-7ED8-7257-115ADF9E8953}"/>
              </a:ext>
            </a:extLst>
          </p:cNvPr>
          <p:cNvPicPr>
            <a:picLocks noChangeAspect="1"/>
          </p:cNvPicPr>
          <p:nvPr/>
        </p:nvPicPr>
        <p:blipFill>
          <a:blip r:embed="rId3"/>
          <a:stretch>
            <a:fillRect/>
          </a:stretch>
        </p:blipFill>
        <p:spPr>
          <a:xfrm>
            <a:off x="320982" y="1095375"/>
            <a:ext cx="9420225" cy="466725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DB164B3-8ECB-9606-85A7-4F64EB1F3049}"/>
              </a:ext>
            </a:extLst>
          </p:cNvPr>
          <p:cNvPicPr>
            <a:picLocks noChangeAspect="1"/>
          </p:cNvPicPr>
          <p:nvPr/>
        </p:nvPicPr>
        <p:blipFill>
          <a:blip r:embed="rId3"/>
          <a:stretch>
            <a:fillRect/>
          </a:stretch>
        </p:blipFill>
        <p:spPr>
          <a:xfrm>
            <a:off x="320982" y="1608410"/>
            <a:ext cx="6914592" cy="5196549"/>
          </a:xfrm>
          <a:prstGeom prst="rect">
            <a:avLst/>
          </a:prstGeom>
        </p:spPr>
      </p:pic>
      <p:sp>
        <p:nvSpPr>
          <p:cNvPr id="6" name="TextBox 5">
            <a:extLst>
              <a:ext uri="{FF2B5EF4-FFF2-40B4-BE49-F238E27FC236}">
                <a16:creationId xmlns:a16="http://schemas.microsoft.com/office/drawing/2014/main" id="{91CA58E9-5606-7CC0-FF2D-6779505DF841}"/>
              </a:ext>
            </a:extLst>
          </p:cNvPr>
          <p:cNvSpPr txBox="1"/>
          <p:nvPr/>
        </p:nvSpPr>
        <p:spPr>
          <a:xfrm>
            <a:off x="69012" y="0"/>
            <a:ext cx="11291977" cy="1477328"/>
          </a:xfrm>
          <a:prstGeom prst="rect">
            <a:avLst/>
          </a:prstGeom>
          <a:noFill/>
        </p:spPr>
        <p:txBody>
          <a:bodyPr wrap="square" rtlCol="0">
            <a:spAutoFit/>
          </a:bodyPr>
          <a:lstStyle/>
          <a:p>
            <a:r>
              <a:rPr lang="en-US" b="1" dirty="0">
                <a:effectLst/>
                <a:latin typeface="Cambria Math" panose="02040503050406030204" pitchFamily="18" charset="0"/>
                <a:ea typeface="Cambria Math" panose="02040503050406030204" pitchFamily="18" charset="0"/>
              </a:rPr>
              <a:t>Crop Performance Across Seasons</a:t>
            </a:r>
            <a:endParaRPr lang="en-US" b="0" dirty="0">
              <a:effectLst/>
              <a:latin typeface="Cambria Math" panose="02040503050406030204" pitchFamily="18" charset="0"/>
              <a:ea typeface="Cambria Math" panose="02040503050406030204" pitchFamily="18" charset="0"/>
            </a:endParaRPr>
          </a:p>
          <a:p>
            <a:br>
              <a:rPr lang="en-US" b="0" dirty="0">
                <a:effectLst/>
                <a:latin typeface="Cambria Math" panose="02040503050406030204" pitchFamily="18" charset="0"/>
                <a:ea typeface="Cambria Math" panose="02040503050406030204" pitchFamily="18" charset="0"/>
              </a:rPr>
            </a:br>
            <a:r>
              <a:rPr lang="en-US" b="0" dirty="0">
                <a:effectLst/>
                <a:latin typeface="Cambria Math" panose="02040503050406030204" pitchFamily="18" charset="0"/>
                <a:ea typeface="Cambria Math" panose="02040503050406030204" pitchFamily="18" charset="0"/>
              </a:rPr>
              <a:t>A heatmap is useful here because it lets us see </a:t>
            </a:r>
            <a:r>
              <a:rPr lang="en-US" dirty="0">
                <a:effectLst/>
                <a:latin typeface="Cambria Math" panose="02040503050406030204" pitchFamily="18" charset="0"/>
                <a:ea typeface="Cambria Math" panose="02040503050406030204" pitchFamily="18" charset="0"/>
              </a:rPr>
              <a:t>two things at once </a:t>
            </a:r>
            <a:r>
              <a:rPr lang="en-US" b="0" dirty="0">
                <a:effectLst/>
                <a:latin typeface="Cambria Math" panose="02040503050406030204" pitchFamily="18" charset="0"/>
                <a:ea typeface="Cambria Math" panose="02040503050406030204" pitchFamily="18" charset="0"/>
              </a:rPr>
              <a:t>crop and season in a single picture. Darker or warmer colors mean higher average yield.</a:t>
            </a:r>
          </a:p>
          <a:p>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sz="2800" dirty="0"/>
              <a:t>RESULTS </a:t>
            </a:r>
            <a:endParaRPr lang="en-IN" sz="2800"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02C259BB-28DD-CC48-5720-23EB745BB89A}"/>
              </a:ext>
            </a:extLst>
          </p:cNvPr>
          <p:cNvPicPr>
            <a:picLocks noChangeAspect="1"/>
          </p:cNvPicPr>
          <p:nvPr/>
        </p:nvPicPr>
        <p:blipFill>
          <a:blip r:embed="rId3"/>
          <a:stretch>
            <a:fillRect/>
          </a:stretch>
        </p:blipFill>
        <p:spPr>
          <a:xfrm>
            <a:off x="6159259" y="1158162"/>
            <a:ext cx="5841769" cy="4224721"/>
          </a:xfrm>
          <a:prstGeom prst="rect">
            <a:avLst/>
          </a:prstGeom>
        </p:spPr>
      </p:pic>
      <p:pic>
        <p:nvPicPr>
          <p:cNvPr id="9" name="Picture 8">
            <a:extLst>
              <a:ext uri="{FF2B5EF4-FFF2-40B4-BE49-F238E27FC236}">
                <a16:creationId xmlns:a16="http://schemas.microsoft.com/office/drawing/2014/main" id="{2AAE8259-7964-57D1-FAF8-D4DF32EC0F4C}"/>
              </a:ext>
            </a:extLst>
          </p:cNvPr>
          <p:cNvPicPr>
            <a:picLocks noChangeAspect="1"/>
          </p:cNvPicPr>
          <p:nvPr/>
        </p:nvPicPr>
        <p:blipFill>
          <a:blip r:embed="rId4"/>
          <a:stretch>
            <a:fillRect/>
          </a:stretch>
        </p:blipFill>
        <p:spPr>
          <a:xfrm>
            <a:off x="120770" y="1201586"/>
            <a:ext cx="5911972" cy="4224721"/>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Rectangle 1">
            <a:extLst>
              <a:ext uri="{FF2B5EF4-FFF2-40B4-BE49-F238E27FC236}">
                <a16:creationId xmlns:a16="http://schemas.microsoft.com/office/drawing/2014/main" id="{97C937ED-F527-011A-F7B7-E2581AF5D0E7}"/>
              </a:ext>
            </a:extLst>
          </p:cNvPr>
          <p:cNvSpPr>
            <a:spLocks noChangeArrowheads="1"/>
          </p:cNvSpPr>
          <p:nvPr/>
        </p:nvSpPr>
        <p:spPr bwMode="auto">
          <a:xfrm>
            <a:off x="722599" y="1455386"/>
            <a:ext cx="866294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Try building a model that predicts yield and profit before the season even starts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Pull in live weather data instead of just historical averages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Add more states, crops, and years of data to make the patterns more reliable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Turn this into a basic dashboard farmers could actually check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Add a feature that suggests the best crop based on soil, irrigation, season </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6" y="370589"/>
            <a:ext cx="9882775" cy="2010302"/>
          </a:xfrm>
        </p:spPr>
        <p:txBody>
          <a:bodyPr>
            <a:normAutofit/>
          </a:bodyPr>
          <a:lstStyle/>
          <a:p>
            <a:r>
              <a:rPr lang="en-IN" sz="4000" dirty="0"/>
              <a:t>GitHub Link : </a:t>
            </a:r>
            <a:r>
              <a:rPr lang="en-IN" sz="2400" dirty="0">
                <a:solidFill>
                  <a:srgbClr val="FF0000"/>
                </a:solidFill>
                <a:hlinkClick r:id="rId3">
                  <a:extLst>
                    <a:ext uri="{A12FA001-AC4F-418D-AE19-62706E023703}">
                      <ahyp:hlinkClr xmlns:ahyp="http://schemas.microsoft.com/office/drawing/2018/hyperlinkcolor" val="tx"/>
                    </a:ext>
                  </a:extLst>
                </a:hlinkClick>
              </a:rPr>
              <a:t>khajahussain777/Seasonal-Agriculture-Performance-Analysis</a:t>
            </a:r>
            <a:endParaRPr lang="en-IN" sz="4000" dirty="0">
              <a:solidFill>
                <a:srgbClr val="FF0000"/>
              </a:solidFill>
            </a:endParaRP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71C6B2B8-B169-8788-DAEA-6C88B9A89B1B}"/>
              </a:ext>
            </a:extLst>
          </p:cNvPr>
          <p:cNvPicPr>
            <a:picLocks noChangeAspect="1"/>
          </p:cNvPicPr>
          <p:nvPr/>
        </p:nvPicPr>
        <p:blipFill>
          <a:blip r:embed="rId4"/>
          <a:stretch>
            <a:fillRect/>
          </a:stretch>
        </p:blipFill>
        <p:spPr>
          <a:xfrm>
            <a:off x="457444" y="2380891"/>
            <a:ext cx="7231811" cy="3896384"/>
          </a:xfrm>
          <a:prstGeom prst="rect">
            <a:avLst/>
          </a:prstGeom>
        </p:spPr>
      </p:pic>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E662404-F70C-52FF-CA39-CB39F183196F}"/>
              </a:ext>
            </a:extLst>
          </p:cNvPr>
          <p:cNvPicPr>
            <a:picLocks noChangeAspect="1"/>
          </p:cNvPicPr>
          <p:nvPr/>
        </p:nvPicPr>
        <p:blipFill>
          <a:blip r:embed="rId3"/>
          <a:stretch>
            <a:fillRect/>
          </a:stretch>
        </p:blipFill>
        <p:spPr>
          <a:xfrm>
            <a:off x="480244" y="1393397"/>
            <a:ext cx="9767937" cy="527156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7560" y="2545370"/>
            <a:ext cx="11340000" cy="700114"/>
          </a:xfrm>
          <a:prstGeom prst="rect">
            <a:avLst/>
          </a:prstGeom>
        </p:spPr>
        <p:txBody>
          <a:bodyPr anchor="ctr">
            <a:noAutofit/>
          </a:bodyPr>
          <a:lstStyle/>
          <a:p>
            <a:pPr algn="ctr"/>
            <a:r>
              <a:rPr lang="en-US" sz="7200" b="1" i="1" dirty="0">
                <a:solidFill>
                  <a:srgbClr val="0070C0"/>
                </a:solidFill>
                <a:effectLst>
                  <a:outerShdw blurRad="38100" dist="38100" dir="2700000" algn="tl">
                    <a:srgbClr val="000000">
                      <a:alpha val="43137"/>
                    </a:srgbClr>
                  </a:outerShdw>
                </a:effectLst>
                <a:latin typeface="Arial Black" panose="020B0A04020102020204" pitchFamily="34"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1427</TotalTime>
  <Words>547</Words>
  <Application>Microsoft Office PowerPoint</Application>
  <PresentationFormat>Widescreen</PresentationFormat>
  <Paragraphs>47</Paragraphs>
  <Slides>14</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__Plus_Jakarta_Sans_a11773</vt:lpstr>
      <vt:lpstr>Aldhabi</vt:lpstr>
      <vt:lpstr>Aptos</vt:lpstr>
      <vt:lpstr>Arial</vt:lpstr>
      <vt:lpstr>Arial Black</vt:lpstr>
      <vt:lpstr>Calibri</vt:lpstr>
      <vt:lpstr>Cambria Math</vt:lpstr>
      <vt:lpstr>Trebuchet MS</vt:lpstr>
      <vt:lpstr>Wingdings</vt:lpstr>
      <vt:lpstr>Wingdings 3</vt:lpstr>
      <vt:lpstr>Facet</vt:lpstr>
      <vt:lpstr>Seasonal Agriculture Performance Analysis</vt:lpstr>
      <vt:lpstr>PROBLEM  STATEMENT</vt:lpstr>
      <vt:lpstr>Project Description  </vt:lpstr>
      <vt:lpstr>WHO ARE THE END USERS?</vt:lpstr>
      <vt:lpstr>Technology Used</vt:lpstr>
      <vt:lpstr>RESULTS </vt:lpstr>
      <vt:lpstr>Environmental Conditions across Seasons  </vt:lpstr>
      <vt:lpstr>PowerPoint Presentation</vt:lpstr>
      <vt:lpstr>PowerPoint Presentation</vt:lpstr>
      <vt:lpstr>RESULTS </vt:lpstr>
      <vt:lpstr>Future scope</vt:lpstr>
      <vt:lpstr>GitHub Link : khajahussain777/Seasonal-Agriculture-Performance-Analysis</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 Mohammad Khaja Hussain</cp:lastModifiedBy>
  <cp:revision>105</cp:revision>
  <dcterms:created xsi:type="dcterms:W3CDTF">2021-07-11T13:13:15Z</dcterms:created>
  <dcterms:modified xsi:type="dcterms:W3CDTF">2026-09-10T09:29:57Z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